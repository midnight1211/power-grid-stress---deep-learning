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2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E2C"/>
    <a:srgbClr val="FFC629"/>
    <a:srgbClr val="F6D44D"/>
    <a:srgbClr val="F6D44C"/>
    <a:srgbClr val="CE0E2D"/>
    <a:srgbClr val="E51936"/>
    <a:srgbClr val="E21C37"/>
    <a:srgbClr val="FBE7AB"/>
    <a:srgbClr val="CE202F"/>
    <a:srgbClr val="B3975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CAFC0-DDE2-4F5A-A648-E1487F717717}" v="4" dt="2026-04-09T01:35:21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5706" autoAdjust="0"/>
  </p:normalViewPr>
  <p:slideViewPr>
    <p:cSldViewPr snapToGrid="0">
      <p:cViewPr varScale="1">
        <p:scale>
          <a:sx n="29" d="100"/>
          <a:sy n="29" d="100"/>
        </p:scale>
        <p:origin x="1018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Vuksanovich" userId="7d4aef93-eb2c-4f53-bccd-26fa265603c1" providerId="ADAL" clId="{6CC3FD87-6835-43DE-8212-77E65DEA41AC}"/>
    <pc:docChg chg="undo custSel modSld">
      <pc:chgData name="David Vuksanovich" userId="7d4aef93-eb2c-4f53-bccd-26fa265603c1" providerId="ADAL" clId="{6CC3FD87-6835-43DE-8212-77E65DEA41AC}" dt="2026-04-09T01:38:08.300" v="45" actId="732"/>
      <pc:docMkLst>
        <pc:docMk/>
      </pc:docMkLst>
      <pc:sldChg chg="modSp mod">
        <pc:chgData name="David Vuksanovich" userId="7d4aef93-eb2c-4f53-bccd-26fa265603c1" providerId="ADAL" clId="{6CC3FD87-6835-43DE-8212-77E65DEA41AC}" dt="2026-04-09T01:38:08.300" v="45" actId="732"/>
        <pc:sldMkLst>
          <pc:docMk/>
          <pc:sldMk cId="383145491" sldId="262"/>
        </pc:sldMkLst>
        <pc:graphicFrameChg chg="mod modGraphic">
          <ac:chgData name="David Vuksanovich" userId="7d4aef93-eb2c-4f53-bccd-26fa265603c1" providerId="ADAL" clId="{6CC3FD87-6835-43DE-8212-77E65DEA41AC}" dt="2026-04-09T01:36:24.824" v="42" actId="14100"/>
          <ac:graphicFrameMkLst>
            <pc:docMk/>
            <pc:sldMk cId="383145491" sldId="262"/>
            <ac:graphicFrameMk id="9" creationId="{3392CE1C-03A8-2E8B-AAED-F943E28AF578}"/>
          </ac:graphicFrameMkLst>
        </pc:graphicFrameChg>
        <pc:graphicFrameChg chg="mod modGraphic">
          <ac:chgData name="David Vuksanovich" userId="7d4aef93-eb2c-4f53-bccd-26fa265603c1" providerId="ADAL" clId="{6CC3FD87-6835-43DE-8212-77E65DEA41AC}" dt="2026-04-09T01:31:24.261" v="32" actId="1076"/>
          <ac:graphicFrameMkLst>
            <pc:docMk/>
            <pc:sldMk cId="383145491" sldId="262"/>
            <ac:graphicFrameMk id="12" creationId="{838F117B-FBFF-1494-40E1-68B44B6EEA86}"/>
          </ac:graphicFrameMkLst>
        </pc:graphicFrameChg>
        <pc:picChg chg="mod modCrop">
          <ac:chgData name="David Vuksanovich" userId="7d4aef93-eb2c-4f53-bccd-26fa265603c1" providerId="ADAL" clId="{6CC3FD87-6835-43DE-8212-77E65DEA41AC}" dt="2026-04-09T01:38:08.300" v="45" actId="732"/>
          <ac:picMkLst>
            <pc:docMk/>
            <pc:sldMk cId="383145491" sldId="262"/>
            <ac:picMk id="5" creationId="{98FE27AE-46E7-39B6-1DD1-BDEC53BFE809}"/>
          </ac:picMkLst>
        </pc:picChg>
        <pc:picChg chg="mod modCrop">
          <ac:chgData name="David Vuksanovich" userId="7d4aef93-eb2c-4f53-bccd-26fa265603c1" providerId="ADAL" clId="{6CC3FD87-6835-43DE-8212-77E65DEA41AC}" dt="2026-04-09T01:36:24.824" v="42" actId="14100"/>
          <ac:picMkLst>
            <pc:docMk/>
            <pc:sldMk cId="383145491" sldId="262"/>
            <ac:picMk id="8" creationId="{E6EB1252-8560-8695-0DA0-A7F6BEFF12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192B04-4290-4346-952A-2F6173AE7AF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B33AC-30C9-1747-B2DC-2A6F31078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20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813517" rtl="0" eaLnBrk="1" latinLnBrk="0" hangingPunct="1">
      <a:defRPr sz="3692" kern="1200">
        <a:solidFill>
          <a:schemeClr val="tx1"/>
        </a:solidFill>
        <a:latin typeface="+mn-lt"/>
        <a:ea typeface="+mn-ea"/>
        <a:cs typeface="+mn-cs"/>
      </a:defRPr>
    </a:lvl1pPr>
    <a:lvl2pPr marL="1406759" algn="l" defTabSz="2813517" rtl="0" eaLnBrk="1" latinLnBrk="0" hangingPunct="1">
      <a:defRPr sz="3692" kern="1200">
        <a:solidFill>
          <a:schemeClr val="tx1"/>
        </a:solidFill>
        <a:latin typeface="+mn-lt"/>
        <a:ea typeface="+mn-ea"/>
        <a:cs typeface="+mn-cs"/>
      </a:defRPr>
    </a:lvl2pPr>
    <a:lvl3pPr marL="2813517" algn="l" defTabSz="2813517" rtl="0" eaLnBrk="1" latinLnBrk="0" hangingPunct="1">
      <a:defRPr sz="3692" kern="1200">
        <a:solidFill>
          <a:schemeClr val="tx1"/>
        </a:solidFill>
        <a:latin typeface="+mn-lt"/>
        <a:ea typeface="+mn-ea"/>
        <a:cs typeface="+mn-cs"/>
      </a:defRPr>
    </a:lvl3pPr>
    <a:lvl4pPr marL="4220276" algn="l" defTabSz="2813517" rtl="0" eaLnBrk="1" latinLnBrk="0" hangingPunct="1">
      <a:defRPr sz="3692" kern="1200">
        <a:solidFill>
          <a:schemeClr val="tx1"/>
        </a:solidFill>
        <a:latin typeface="+mn-lt"/>
        <a:ea typeface="+mn-ea"/>
        <a:cs typeface="+mn-cs"/>
      </a:defRPr>
    </a:lvl4pPr>
    <a:lvl5pPr marL="5627035" algn="l" defTabSz="2813517" rtl="0" eaLnBrk="1" latinLnBrk="0" hangingPunct="1">
      <a:defRPr sz="3692" kern="1200">
        <a:solidFill>
          <a:schemeClr val="tx1"/>
        </a:solidFill>
        <a:latin typeface="+mn-lt"/>
        <a:ea typeface="+mn-ea"/>
        <a:cs typeface="+mn-cs"/>
      </a:defRPr>
    </a:lvl5pPr>
    <a:lvl6pPr marL="7033793" algn="l" defTabSz="2813517" rtl="0" eaLnBrk="1" latinLnBrk="0" hangingPunct="1">
      <a:defRPr sz="3692" kern="1200">
        <a:solidFill>
          <a:schemeClr val="tx1"/>
        </a:solidFill>
        <a:latin typeface="+mn-lt"/>
        <a:ea typeface="+mn-ea"/>
        <a:cs typeface="+mn-cs"/>
      </a:defRPr>
    </a:lvl6pPr>
    <a:lvl7pPr marL="8440552" algn="l" defTabSz="2813517" rtl="0" eaLnBrk="1" latinLnBrk="0" hangingPunct="1">
      <a:defRPr sz="3692" kern="1200">
        <a:solidFill>
          <a:schemeClr val="tx1"/>
        </a:solidFill>
        <a:latin typeface="+mn-lt"/>
        <a:ea typeface="+mn-ea"/>
        <a:cs typeface="+mn-cs"/>
      </a:defRPr>
    </a:lvl7pPr>
    <a:lvl8pPr marL="9847311" algn="l" defTabSz="2813517" rtl="0" eaLnBrk="1" latinLnBrk="0" hangingPunct="1">
      <a:defRPr sz="3692" kern="1200">
        <a:solidFill>
          <a:schemeClr val="tx1"/>
        </a:solidFill>
        <a:latin typeface="+mn-lt"/>
        <a:ea typeface="+mn-ea"/>
        <a:cs typeface="+mn-cs"/>
      </a:defRPr>
    </a:lvl8pPr>
    <a:lvl9pPr marL="11254069" algn="l" defTabSz="2813517" rtl="0" eaLnBrk="1" latinLnBrk="0" hangingPunct="1">
      <a:defRPr sz="369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A47D4-544F-32DA-0458-F7D71221F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66C75-ECC5-7113-2241-660FB0C06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48F3C-C4DA-687E-7009-F9F5C0942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73AC3-AE3B-BF7E-8BF9-4B3317614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1B33AC-30C9-1747-B2DC-2A6F310780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609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51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3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51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1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9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20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6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9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85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4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50148-A5BC-3A4B-B15E-70DA2CC77DE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16DEE-646F-7F4C-96C8-0FCE05C9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29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4A0B3-233E-00C2-CD37-B55381031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E6AD5E-B808-4A5D-7F88-D51C5A50E7A4}"/>
              </a:ext>
            </a:extLst>
          </p:cNvPr>
          <p:cNvSpPr/>
          <p:nvPr/>
        </p:nvSpPr>
        <p:spPr>
          <a:xfrm>
            <a:off x="-31532" y="-37980"/>
            <a:ext cx="32949931" cy="2743200"/>
          </a:xfrm>
          <a:prstGeom prst="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 w="28575">
                  <a:solidFill>
                    <a:srgbClr val="CE0E2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Deep Learning &amp; Regional Grid Stability</a:t>
            </a:r>
            <a:endParaRPr kumimoji="0" lang="en-US" sz="9600" b="1" i="0" u="none" strike="noStrike" kern="1200" cap="none" spc="0" normalizeH="0" baseline="0" noProof="0" dirty="0">
              <a:ln w="3175">
                <a:solidFill>
                  <a:prstClr val="white"/>
                </a:solidFill>
              </a:ln>
              <a:solidFill>
                <a:srgbClr val="CE202F"/>
              </a:solidFill>
              <a:effectLst/>
              <a:uLnTx/>
              <a:uFillTx/>
              <a:latin typeface="Avenir Next LT Pro" panose="020B0504020202020204" pitchFamily="34" charset="77"/>
              <a:ea typeface="+mn-ea"/>
              <a:cs typeface="+mn-cs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ln w="3175">
                  <a:noFill/>
                </a:ln>
                <a:solidFill>
                  <a:schemeClr val="bg1"/>
                </a:solidFill>
                <a:latin typeface="Avenir Next LT Pro" panose="020B0504020202020204" pitchFamily="34" charset="77"/>
              </a:rPr>
              <a:t>David Vuksanovich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0855C-C07F-CDAE-062F-05EC9257B096}"/>
              </a:ext>
            </a:extLst>
          </p:cNvPr>
          <p:cNvSpPr txBox="1"/>
          <p:nvPr/>
        </p:nvSpPr>
        <p:spPr>
          <a:xfrm>
            <a:off x="28019274" y="548790"/>
            <a:ext cx="46780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 w="1270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CSCI 4852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 w="1270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Spring 2026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5D7A82-712C-9CA9-9D4A-0B39524BA5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7" t="17095" r="62974" b="21271"/>
          <a:stretch>
            <a:fillRect/>
          </a:stretch>
        </p:blipFill>
        <p:spPr>
          <a:xfrm>
            <a:off x="462844" y="514284"/>
            <a:ext cx="2556934" cy="1638672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53" name="Round Same Side Corner Rectangle 52">
            <a:extLst>
              <a:ext uri="{FF2B5EF4-FFF2-40B4-BE49-F238E27FC236}">
                <a16:creationId xmlns:a16="http://schemas.microsoft.com/office/drawing/2014/main" id="{837835A7-5D97-F486-0F1A-A56D59BE9710}"/>
              </a:ext>
            </a:extLst>
          </p:cNvPr>
          <p:cNvSpPr/>
          <p:nvPr/>
        </p:nvSpPr>
        <p:spPr>
          <a:xfrm>
            <a:off x="213694" y="12647980"/>
            <a:ext cx="10671048" cy="101498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C629"/>
              </a:gs>
              <a:gs pos="50000">
                <a:srgbClr val="CE0E2C"/>
              </a:gs>
              <a:gs pos="10000">
                <a:srgbClr val="CE0E2C"/>
              </a:gs>
              <a:gs pos="89000">
                <a:srgbClr val="CE0E2C"/>
              </a:gs>
              <a:gs pos="100000">
                <a:srgbClr val="F6D44D"/>
              </a:gs>
            </a:gsLst>
            <a:lin ang="27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Dataset</a:t>
            </a:r>
          </a:p>
        </p:txBody>
      </p:sp>
      <p:sp>
        <p:nvSpPr>
          <p:cNvPr id="37" name="Round Same Side Corner Rectangle 36">
            <a:extLst>
              <a:ext uri="{FF2B5EF4-FFF2-40B4-BE49-F238E27FC236}">
                <a16:creationId xmlns:a16="http://schemas.microsoft.com/office/drawing/2014/main" id="{3B083E94-6F6C-0AD2-D81B-7BE568E99A07}"/>
              </a:ext>
            </a:extLst>
          </p:cNvPr>
          <p:cNvSpPr/>
          <p:nvPr/>
        </p:nvSpPr>
        <p:spPr>
          <a:xfrm>
            <a:off x="223579" y="2905358"/>
            <a:ext cx="10671048" cy="101498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C629"/>
              </a:gs>
              <a:gs pos="50000">
                <a:srgbClr val="CE0E2C"/>
              </a:gs>
              <a:gs pos="11000">
                <a:srgbClr val="CE0E2C"/>
              </a:gs>
              <a:gs pos="89000">
                <a:srgbClr val="CE0E2C"/>
              </a:gs>
              <a:gs pos="100000">
                <a:srgbClr val="FFC629"/>
              </a:gs>
            </a:gsLst>
            <a:lin ang="27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Background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97D7821-32C3-3A74-3348-2F018B1311C0}"/>
              </a:ext>
            </a:extLst>
          </p:cNvPr>
          <p:cNvSpPr txBox="1"/>
          <p:nvPr/>
        </p:nvSpPr>
        <p:spPr>
          <a:xfrm>
            <a:off x="223578" y="3918255"/>
            <a:ext cx="10671048" cy="38389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tIns="137160" rtlCol="0">
            <a:no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CE202F"/>
                  </a:solidFill>
                </a:uFill>
                <a:latin typeface="Avenir Next LT Pro" panose="020B0504020202020204" pitchFamily="34" charset="77"/>
                <a:ea typeface="+mn-ea"/>
                <a:cs typeface="+mn-cs"/>
              </a:rPr>
              <a:t>Infrastructur</a:t>
            </a:r>
            <a:r>
              <a:rPr lang="en-US" sz="3200" dirty="0">
                <a:solidFill>
                  <a:prstClr val="black"/>
                </a:solidFill>
                <a:uFill>
                  <a:solidFill>
                    <a:srgbClr val="CE202F"/>
                  </a:solidFill>
                </a:uFill>
                <a:latin typeface="Avenir Next LT Pro" panose="020B0504020202020204" pitchFamily="34" charset="77"/>
              </a:rPr>
              <a:t>e Sensitivity: Regional electrical grids are highly sensitive to fluctuating meteorological conditions and industrial demand cycles.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>
                <a:solidFill>
                  <a:srgbClr val="CE202F"/>
                </a:solidFill>
              </a:uFill>
              <a:latin typeface="Avenir Next LT Pro" panose="020B0504020202020204" pitchFamily="34" charset="77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uFill>
                  <a:solidFill>
                    <a:srgbClr val="CE202F"/>
                  </a:solidFill>
                </a:uFill>
                <a:latin typeface="Avenir Next LT Pro" panose="020B0504020202020204" pitchFamily="34" charset="77"/>
              </a:rPr>
              <a:t>Grid Stability: Precise forecasting is a prerequisite for maintaining grid stability and preventing localized blackouts or equipment strain.</a:t>
            </a:r>
          </a:p>
        </p:txBody>
      </p:sp>
      <p:sp>
        <p:nvSpPr>
          <p:cNvPr id="59" name="Round Same Side Corner Rectangle 58">
            <a:extLst>
              <a:ext uri="{FF2B5EF4-FFF2-40B4-BE49-F238E27FC236}">
                <a16:creationId xmlns:a16="http://schemas.microsoft.com/office/drawing/2014/main" id="{BE388078-0B5A-177C-004F-AEB59B2821B6}"/>
              </a:ext>
            </a:extLst>
          </p:cNvPr>
          <p:cNvSpPr/>
          <p:nvPr/>
        </p:nvSpPr>
        <p:spPr>
          <a:xfrm>
            <a:off x="213694" y="7960383"/>
            <a:ext cx="10671048" cy="101498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C629"/>
              </a:gs>
              <a:gs pos="50000">
                <a:srgbClr val="CE0E2C"/>
              </a:gs>
              <a:gs pos="10000">
                <a:srgbClr val="CE0E2C"/>
              </a:gs>
              <a:gs pos="89000">
                <a:srgbClr val="CE0E2C"/>
              </a:gs>
              <a:gs pos="100000">
                <a:srgbClr val="F6D44D"/>
              </a:gs>
            </a:gsLst>
            <a:lin ang="27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Research Questions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9A889E4-1BB0-16B4-8EC4-21641F4190BB}"/>
              </a:ext>
            </a:extLst>
          </p:cNvPr>
          <p:cNvSpPr txBox="1"/>
          <p:nvPr/>
        </p:nvSpPr>
        <p:spPr>
          <a:xfrm>
            <a:off x="235540" y="8934930"/>
            <a:ext cx="10671048" cy="3455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tIns="137160" rtlCol="0">
            <a:no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prstClr val="black"/>
                  </a:solidFill>
                </a:uFill>
                <a:latin typeface="Avenir Next LT Pro" panose="020B0504020202020204" pitchFamily="34" charset="77"/>
                <a:ea typeface="+mn-ea"/>
                <a:cs typeface="+mn-cs"/>
              </a:rPr>
              <a:t>Classification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prstClr val="black"/>
                  </a:solidFill>
                </a:uFill>
                <a:latin typeface="Avenir Next LT Pro" panose="020B0504020202020204" pitchFamily="34" charset="77"/>
                <a:ea typeface="+mn-ea"/>
                <a:cs typeface="+mn-cs"/>
              </a:rPr>
              <a:t>: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prstClr val="black"/>
                  </a:solidFill>
                </a:uFill>
                <a:latin typeface="Avenir Next LT Pro" panose="020B0504020202020204" pitchFamily="34" charset="77"/>
                <a:ea typeface="+mn-ea"/>
                <a:cs typeface="+mn-cs"/>
              </a:rPr>
              <a:t> Can a binary neural network effectively serve as an ‘Early Warning System’ to classify high-risk ‘Grid Stress’ events?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prstClr val="black"/>
                  </a:solidFill>
                </a:uFill>
                <a:latin typeface="Avenir Next LT Pro" panose="020B0504020202020204" pitchFamily="34" charset="77"/>
                <a:ea typeface="+mn-ea"/>
                <a:cs typeface="+mn-cs"/>
              </a:rPr>
              <a:t>Regression</a:t>
            </a:r>
            <a:r>
              <a:rPr lang="en-US" sz="3200" b="1" dirty="0">
                <a:solidFill>
                  <a:prstClr val="black"/>
                </a:solidFill>
                <a:uFill>
                  <a:solidFill>
                    <a:prstClr val="black"/>
                  </a:solidFill>
                </a:uFill>
                <a:latin typeface="Avenir Next LT Pro" panose="020B0504020202020204" pitchFamily="34" charset="77"/>
              </a:rPr>
              <a:t>:</a:t>
            </a:r>
            <a:r>
              <a:rPr lang="en-US" sz="3200" dirty="0">
                <a:solidFill>
                  <a:prstClr val="black"/>
                </a:solidFill>
                <a:uFill>
                  <a:solidFill>
                    <a:prstClr val="black"/>
                  </a:solidFill>
                </a:uFill>
                <a:latin typeface="Avenir Next LT Pro" panose="020B0504020202020204" pitchFamily="34" charset="77"/>
              </a:rPr>
              <a:t> To what extent can environmental indicators and historical lags accurately forecast quantitative regional power demand in Megawatts?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>
                <a:solidFill>
                  <a:prstClr val="black"/>
                </a:solidFill>
              </a:uFill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90" name="Round Same Side Corner Rectangle 89">
            <a:extLst>
              <a:ext uri="{FF2B5EF4-FFF2-40B4-BE49-F238E27FC236}">
                <a16:creationId xmlns:a16="http://schemas.microsoft.com/office/drawing/2014/main" id="{6BF43C04-CE7F-B61B-6CAC-C16AB665628D}"/>
              </a:ext>
            </a:extLst>
          </p:cNvPr>
          <p:cNvSpPr/>
          <p:nvPr/>
        </p:nvSpPr>
        <p:spPr>
          <a:xfrm>
            <a:off x="22019373" y="2903271"/>
            <a:ext cx="10671048" cy="101498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C629"/>
              </a:gs>
              <a:gs pos="50000">
                <a:srgbClr val="CE0E2C"/>
              </a:gs>
              <a:gs pos="10000">
                <a:srgbClr val="CE0E2C"/>
              </a:gs>
              <a:gs pos="89000">
                <a:srgbClr val="CE0E2C"/>
              </a:gs>
              <a:gs pos="100000">
                <a:srgbClr val="F6D44D"/>
              </a:gs>
            </a:gsLst>
            <a:lin ang="27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Regression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F06DD31-CA48-3AFB-0F9A-A1F93B2A1D56}"/>
                  </a:ext>
                </a:extLst>
              </p:cNvPr>
              <p:cNvSpPr txBox="1"/>
              <p:nvPr/>
            </p:nvSpPr>
            <p:spPr>
              <a:xfrm>
                <a:off x="22019372" y="3916168"/>
                <a:ext cx="10671048" cy="325431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tIns="137160" rtlCol="0">
                <a:noAutofit/>
              </a:bodyPr>
              <a:lstStyle/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venir Next LT Pro" panose="020B0504020202020204" pitchFamily="34" charset="77"/>
                    <a:ea typeface="+mn-ea"/>
                    <a:cs typeface="+mn-cs"/>
                  </a:rPr>
                  <a:t>Architecture: MLP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>
                    <a:solidFill>
                      <a:srgbClr val="CE202F"/>
                    </a:solidFill>
                  </a:uFill>
                  <a:latin typeface="Avenir Next LT Pro" panose="020B0504020202020204" pitchFamily="34" charset="77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venir Next LT Pro" panose="020B0504020202020204" pitchFamily="34" charset="77"/>
                    <a:ea typeface="+mn-ea"/>
                    <a:cs typeface="+mn-cs"/>
                  </a:rPr>
                  <a:t>Layer Sizes: 64 (Input), 32 (Hidden), 1 (Output)</a:t>
                </a: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3200" dirty="0">
                    <a:solidFill>
                      <a:prstClr val="black"/>
                    </a:solidFill>
                    <a:latin typeface="Avenir Next LT Pro" panose="020B0504020202020204" pitchFamily="34" charset="77"/>
                  </a:rPr>
                  <a:t>Activation: </a:t>
                </a:r>
                <a:r>
                  <a:rPr lang="en-US" sz="3200" dirty="0" err="1">
                    <a:solidFill>
                      <a:prstClr val="black"/>
                    </a:solidFill>
                    <a:latin typeface="Avenir Next LT Pro" panose="020B0504020202020204" pitchFamily="34" charset="77"/>
                  </a:rPr>
                  <a:t>ReLU</a:t>
                </a:r>
                <a:endParaRPr lang="en-US" sz="3200" dirty="0">
                  <a:solidFill>
                    <a:prstClr val="black"/>
                  </a:solidFill>
                  <a:latin typeface="Avenir Next LT Pro" panose="020B0504020202020204" pitchFamily="34" charset="77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>
                      <a:solidFill>
                        <a:srgbClr val="CE202F"/>
                      </a:solidFill>
                    </a:uFill>
                    <a:latin typeface="Avenir Next LT Pro" panose="020B0504020202020204" pitchFamily="34" charset="77"/>
                    <a:ea typeface="+mn-ea"/>
                    <a:cs typeface="+mn-cs"/>
                  </a:rPr>
                  <a:t>Optimizer: </a:t>
                </a:r>
                <a:r>
                  <a:rPr lang="en-US" sz="3200" dirty="0">
                    <a:solidFill>
                      <a:prstClr val="black"/>
                    </a:solidFill>
                    <a:uFill>
                      <a:solidFill>
                        <a:srgbClr val="CE202F"/>
                      </a:solidFill>
                    </a:uFill>
                    <a:latin typeface="Avenir Next LT Pro" panose="020B0504020202020204" pitchFamily="34" charset="77"/>
                  </a:rPr>
                  <a:t>Adam (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prstClr val="black"/>
                        </a:solidFill>
                        <a:uFill>
                          <a:solidFill>
                            <a:srgbClr val="CE202F"/>
                          </a:solidFill>
                        </a:uFill>
                        <a:latin typeface="Cambria Math" panose="02040503050406030204" pitchFamily="18" charset="0"/>
                      </a:rPr>
                      <m:t>𝑙𝑟</m:t>
                    </m:r>
                    <m:r>
                      <a:rPr lang="en-US" sz="3200" b="0" i="1" smtClean="0">
                        <a:solidFill>
                          <a:prstClr val="black"/>
                        </a:solidFill>
                        <a:uFill>
                          <a:solidFill>
                            <a:srgbClr val="CE202F"/>
                          </a:solidFill>
                        </a:uFill>
                        <a:latin typeface="Cambria Math" panose="02040503050406030204" pitchFamily="18" charset="0"/>
                      </a:rPr>
                      <m:t>=0.001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>
                      <a:solidFill>
                        <a:srgbClr val="CE202F"/>
                      </a:solidFill>
                    </a:uFill>
                    <a:latin typeface="Avenir Next LT Pro" panose="020B0504020202020204" pitchFamily="34" charset="77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F06DD31-CA48-3AFB-0F9A-A1F93B2A1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9372" y="3916168"/>
                <a:ext cx="10671048" cy="3254313"/>
              </a:xfrm>
              <a:prstGeom prst="rect">
                <a:avLst/>
              </a:prstGeom>
              <a:blipFill>
                <a:blip r:embed="rId4"/>
                <a:stretch>
                  <a:fillRect l="-1138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ound Same Side Corner Rectangle 98">
            <a:extLst>
              <a:ext uri="{FF2B5EF4-FFF2-40B4-BE49-F238E27FC236}">
                <a16:creationId xmlns:a16="http://schemas.microsoft.com/office/drawing/2014/main" id="{39E73492-02AD-7A68-E4FC-86E367BDD1B7}"/>
              </a:ext>
            </a:extLst>
          </p:cNvPr>
          <p:cNvSpPr/>
          <p:nvPr/>
        </p:nvSpPr>
        <p:spPr>
          <a:xfrm>
            <a:off x="11130821" y="2901183"/>
            <a:ext cx="10671048" cy="101498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C629"/>
              </a:gs>
              <a:gs pos="50000">
                <a:srgbClr val="CE0E2C"/>
              </a:gs>
              <a:gs pos="10000">
                <a:srgbClr val="CE0E2C"/>
              </a:gs>
              <a:gs pos="89000">
                <a:srgbClr val="CE0E2C"/>
              </a:gs>
              <a:gs pos="100000">
                <a:srgbClr val="F6D44D"/>
              </a:gs>
            </a:gsLst>
            <a:lin ang="27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Classification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23E9411-3F2C-D4BC-2C4B-BA4F04CCE9C7}"/>
                  </a:ext>
                </a:extLst>
              </p:cNvPr>
              <p:cNvSpPr txBox="1"/>
              <p:nvPr/>
            </p:nvSpPr>
            <p:spPr>
              <a:xfrm>
                <a:off x="11130820" y="3914080"/>
                <a:ext cx="10671048" cy="384317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tIns="137160" rtlCol="0">
                <a:noAutofit/>
              </a:bodyPr>
              <a:lstStyle/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venir Next LT Pro" panose="020B0504020202020204" pitchFamily="34" charset="77"/>
                    <a:ea typeface="+mn-ea"/>
                    <a:cs typeface="+mn-cs"/>
                  </a:rPr>
                  <a:t>Architecture: Multi-Layer Perception (MLP)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>
                    <a:solidFill>
                      <a:srgbClr val="CE202F"/>
                    </a:solidFill>
                  </a:uFill>
                  <a:latin typeface="Avenir Next LT Pro" panose="020B0504020202020204" pitchFamily="34" charset="77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venir Next LT Pro" panose="020B0504020202020204" pitchFamily="34" charset="77"/>
                    <a:ea typeface="+mn-ea"/>
                    <a:cs typeface="+mn-cs"/>
                  </a:rPr>
                  <a:t>Layer Sizes: 32 Input, 16 Hidden, and 1 Output.</a:t>
                </a: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3200" dirty="0">
                    <a:solidFill>
                      <a:prstClr val="black"/>
                    </a:solidFill>
                    <a:latin typeface="Avenir Next LT Pro" panose="020B0504020202020204" pitchFamily="34" charset="77"/>
                  </a:rPr>
                  <a:t>Activation: </a:t>
                </a:r>
                <a:r>
                  <a:rPr lang="en-US" sz="3200" dirty="0" err="1">
                    <a:solidFill>
                      <a:prstClr val="black"/>
                    </a:solidFill>
                    <a:latin typeface="Avenir Next LT Pro" panose="020B0504020202020204" pitchFamily="34" charset="77"/>
                  </a:rPr>
                  <a:t>ReLU</a:t>
                </a:r>
                <a:r>
                  <a:rPr lang="en-US" sz="3200" dirty="0">
                    <a:solidFill>
                      <a:prstClr val="black"/>
                    </a:solidFill>
                    <a:latin typeface="Avenir Next LT Pro" panose="020B0504020202020204" pitchFamily="34" charset="77"/>
                  </a:rPr>
                  <a:t> (Hidden), Sigmoid (Output).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>
                    <a:solidFill>
                      <a:srgbClr val="CE202F"/>
                    </a:solidFill>
                  </a:uFill>
                  <a:latin typeface="Avenir Next LT Pro" panose="020B0504020202020204" pitchFamily="34" charset="77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venir Next LT Pro" panose="020B0504020202020204" pitchFamily="34" charset="77"/>
                    <a:ea typeface="+mn-ea"/>
                    <a:cs typeface="+mn-cs"/>
                  </a:rPr>
                  <a:t>Optimization: Adam (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𝑙𝑟</m:t>
                    </m:r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=0.001</m:t>
                    </m:r>
                    <m:r>
                      <a:rPr kumimoji="0" lang="en-US" sz="3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Next LT Pro" panose="020B0504020202020204" pitchFamily="34" charset="77"/>
                  <a:ea typeface="+mn-ea"/>
                  <a:cs typeface="+mn-cs"/>
                </a:endParaRPr>
              </a:p>
              <a:p>
                <a:pPr marL="457200" marR="0" lvl="0" indent="-4572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4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>
                      <a:solidFill>
                        <a:srgbClr val="CE202F"/>
                      </a:solidFill>
                    </a:uFill>
                    <a:latin typeface="Avenir Next LT Pro" panose="020B0504020202020204" pitchFamily="34" charset="77"/>
                    <a:ea typeface="+mn-ea"/>
                    <a:cs typeface="+mn-cs"/>
                  </a:rPr>
                  <a:t>Performanc</a:t>
                </a:r>
                <a:r>
                  <a:rPr lang="en-US" sz="3200" dirty="0">
                    <a:solidFill>
                      <a:prstClr val="black"/>
                    </a:solidFill>
                    <a:uFill>
                      <a:solidFill>
                        <a:srgbClr val="CE202F"/>
                      </a:solidFill>
                    </a:uFill>
                    <a:latin typeface="Avenir Next LT Pro" panose="020B0504020202020204" pitchFamily="34" charset="77"/>
                  </a:rPr>
                  <a:t>e Evaluation: Confusion Matrix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>
                    <a:solidFill>
                      <a:srgbClr val="CE202F"/>
                    </a:solidFill>
                  </a:uFill>
                  <a:latin typeface="Avenir Next LT Pro" panose="020B0504020202020204" pitchFamily="34" charset="77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23E9411-3F2C-D4BC-2C4B-BA4F04CCE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0820" y="3914080"/>
                <a:ext cx="10671048" cy="3843170"/>
              </a:xfrm>
              <a:prstGeom prst="rect">
                <a:avLst/>
              </a:prstGeom>
              <a:blipFill>
                <a:blip r:embed="rId5"/>
                <a:stretch>
                  <a:fillRect l="-1139" b="-471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 Same Side Corner Rectangle 100">
            <a:extLst>
              <a:ext uri="{FF2B5EF4-FFF2-40B4-BE49-F238E27FC236}">
                <a16:creationId xmlns:a16="http://schemas.microsoft.com/office/drawing/2014/main" id="{8679DFFC-F1B0-D8EF-6AC2-13FCCF6AC634}"/>
              </a:ext>
            </a:extLst>
          </p:cNvPr>
          <p:cNvSpPr/>
          <p:nvPr/>
        </p:nvSpPr>
        <p:spPr>
          <a:xfrm>
            <a:off x="11123677" y="7955301"/>
            <a:ext cx="10671048" cy="101498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C629"/>
              </a:gs>
              <a:gs pos="50000">
                <a:srgbClr val="CE0E2C"/>
              </a:gs>
              <a:gs pos="10000">
                <a:srgbClr val="CE0E2C"/>
              </a:gs>
              <a:gs pos="89000">
                <a:srgbClr val="CE0E2C"/>
              </a:gs>
              <a:gs pos="100000">
                <a:srgbClr val="F6D44D"/>
              </a:gs>
            </a:gsLst>
            <a:lin ang="27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Classification Results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9A5A4DD-37FD-20E9-2AC3-50DCE52CE3F6}"/>
              </a:ext>
            </a:extLst>
          </p:cNvPr>
          <p:cNvSpPr txBox="1"/>
          <p:nvPr/>
        </p:nvSpPr>
        <p:spPr>
          <a:xfrm>
            <a:off x="11123676" y="8966110"/>
            <a:ext cx="10671048" cy="1285016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tIns="137160" rtlCol="0">
            <a:no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Analysis: The MLP Classifier outperformed the majority-class baseline by successfully filtering all 1,737 normal operating hours with no false alarms.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>
                <a:solidFill>
                  <a:srgbClr val="CE202F"/>
                </a:solidFill>
              </a:uFill>
              <a:latin typeface="Avenir Next LT Pro" panose="020B0504020202020204" pitchFamily="34" charset="77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Conclusion: The model effectively identifies standard states but exhibits conservative bias during stress events.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>
                <a:solidFill>
                  <a:srgbClr val="CE202F"/>
                </a:solidFill>
              </a:uFill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106" name="Round Same Side Corner Rectangle 105">
            <a:extLst>
              <a:ext uri="{FF2B5EF4-FFF2-40B4-BE49-F238E27FC236}">
                <a16:creationId xmlns:a16="http://schemas.microsoft.com/office/drawing/2014/main" id="{A8EBF360-2A40-CC50-73D2-7AD9B8DBCC02}"/>
              </a:ext>
            </a:extLst>
          </p:cNvPr>
          <p:cNvSpPr/>
          <p:nvPr/>
        </p:nvSpPr>
        <p:spPr>
          <a:xfrm>
            <a:off x="22019372" y="7417878"/>
            <a:ext cx="10671048" cy="101498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C629"/>
              </a:gs>
              <a:gs pos="50000">
                <a:srgbClr val="CE0E2C"/>
              </a:gs>
              <a:gs pos="10000">
                <a:srgbClr val="CE0E2C"/>
              </a:gs>
              <a:gs pos="89000">
                <a:srgbClr val="CE0E2C"/>
              </a:gs>
              <a:gs pos="100000">
                <a:srgbClr val="F6D44D"/>
              </a:gs>
            </a:gsLst>
            <a:lin ang="27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Regression Results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800D637-9400-C58A-E5F4-72BADCB3EAA5}"/>
              </a:ext>
            </a:extLst>
          </p:cNvPr>
          <p:cNvSpPr txBox="1"/>
          <p:nvPr/>
        </p:nvSpPr>
        <p:spPr>
          <a:xfrm>
            <a:off x="22033658" y="8462792"/>
            <a:ext cx="10671048" cy="950580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tIns="137160" rtlCol="0">
            <a:no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Analysis: The 64-32-1 MLP architecture demonstrated superior convergence, tracking </a:t>
            </a:r>
            <a:r>
              <a:rPr lang="en-US" sz="3200" dirty="0">
                <a:solidFill>
                  <a:prstClr val="black"/>
                </a:solidFill>
                <a:latin typeface="Avenir Next LT Pro" panose="020B0504020202020204" pitchFamily="34" charset="77"/>
              </a:rPr>
              <a:t>diurnal load cycles with high fidelity as shown in the time-series residuals.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>
                <a:solidFill>
                  <a:srgbClr val="CE202F"/>
                </a:solidFill>
              </a:uFill>
              <a:latin typeface="Avenir Next LT Pro" panose="020B0504020202020204" pitchFamily="34" charset="77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Conclusion: The inclusion of 24-hour lags and temperature rolling averages allows the model to forecast demand </a:t>
            </a:r>
            <a:r>
              <a:rPr lang="en-US" sz="3200" dirty="0">
                <a:solidFill>
                  <a:prstClr val="black"/>
                </a:solidFill>
                <a:latin typeface="Avenir Next LT Pro" panose="020B0504020202020204" pitchFamily="34" charset="77"/>
              </a:rPr>
              <a:t>within a highly acceptable error margin of ~265 MW.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>
                <a:solidFill>
                  <a:srgbClr val="CE202F"/>
                </a:solidFill>
              </a:uFill>
              <a:latin typeface="Avenir Next L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109" name="Round Same Side Corner Rectangle 108">
            <a:extLst>
              <a:ext uri="{FF2B5EF4-FFF2-40B4-BE49-F238E27FC236}">
                <a16:creationId xmlns:a16="http://schemas.microsoft.com/office/drawing/2014/main" id="{8F893FE6-BE98-1E55-C8A1-AE01F30DFA72}"/>
              </a:ext>
            </a:extLst>
          </p:cNvPr>
          <p:cNvSpPr/>
          <p:nvPr/>
        </p:nvSpPr>
        <p:spPr>
          <a:xfrm>
            <a:off x="235540" y="16953614"/>
            <a:ext cx="10671048" cy="101498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C629"/>
              </a:gs>
              <a:gs pos="50000">
                <a:srgbClr val="CE0E2C"/>
              </a:gs>
              <a:gs pos="10000">
                <a:srgbClr val="CE0E2C"/>
              </a:gs>
              <a:gs pos="89000">
                <a:srgbClr val="CE0E2C"/>
              </a:gs>
              <a:gs pos="100000">
                <a:srgbClr val="F6D44D"/>
              </a:gs>
            </a:gsLst>
            <a:lin ang="27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Data Preparation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1B122D8-6987-F5DE-8B5D-9E7E652AAA1D}"/>
              </a:ext>
            </a:extLst>
          </p:cNvPr>
          <p:cNvSpPr txBox="1"/>
          <p:nvPr/>
        </p:nvSpPr>
        <p:spPr>
          <a:xfrm>
            <a:off x="220838" y="17968598"/>
            <a:ext cx="10663904" cy="384768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tIns="137160" rtlCol="0">
            <a:no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Feature Engineering: Generated cyclic time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freatures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 and 3-hour rolling weather averages to capture thermal inertia.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>
                <a:solidFill>
                  <a:srgbClr val="CE202F"/>
                </a:solidFill>
              </a:uFill>
              <a:latin typeface="Avenir Next LT Pro" panose="020B0504020202020204" pitchFamily="34" charset="77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Scaling: Applied Min-Max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Normalizaiton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 to all inputs to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ensur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 gradient stability.</a:t>
            </a:r>
          </a:p>
        </p:txBody>
      </p:sp>
      <p:sp>
        <p:nvSpPr>
          <p:cNvPr id="51" name="Round Same Side Corner Rectangle 50">
            <a:extLst>
              <a:ext uri="{FF2B5EF4-FFF2-40B4-BE49-F238E27FC236}">
                <a16:creationId xmlns:a16="http://schemas.microsoft.com/office/drawing/2014/main" id="{6ADC3509-7E80-AED0-ED70-CBB5E37B56A9}"/>
              </a:ext>
            </a:extLst>
          </p:cNvPr>
          <p:cNvSpPr/>
          <p:nvPr/>
        </p:nvSpPr>
        <p:spPr>
          <a:xfrm>
            <a:off x="22007886" y="18240110"/>
            <a:ext cx="10671048" cy="1014984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FFC629"/>
              </a:gs>
              <a:gs pos="50000">
                <a:srgbClr val="CE0E2C"/>
              </a:gs>
              <a:gs pos="10000">
                <a:srgbClr val="CE0E2C"/>
              </a:gs>
              <a:gs pos="89000">
                <a:srgbClr val="CE0E2C"/>
              </a:gs>
              <a:gs pos="100000">
                <a:srgbClr val="F6D44D"/>
              </a:gs>
            </a:gsLst>
            <a:lin ang="2700000" scaled="0"/>
          </a:gra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Demi" panose="020B0704020202020204" pitchFamily="34" charset="77"/>
                <a:ea typeface="+mn-ea"/>
                <a:cs typeface="+mn-cs"/>
              </a:rPr>
              <a:t>Future Work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AD9AD86-6116-66B5-08CF-0B370D4C8738}"/>
              </a:ext>
            </a:extLst>
          </p:cNvPr>
          <p:cNvSpPr txBox="1"/>
          <p:nvPr/>
        </p:nvSpPr>
        <p:spPr>
          <a:xfrm>
            <a:off x="22011812" y="19255094"/>
            <a:ext cx="10685751" cy="25611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tIns="137160" rtlCol="0">
            <a:no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Imbalance Resolution: Implementing Focal Loss to increase the classifier’s sensitivity to rare events.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>
                <a:solidFill>
                  <a:srgbClr val="CE202F"/>
                </a:solidFill>
              </a:uFill>
              <a:latin typeface="Avenir Next LT Pro" panose="020B0504020202020204" pitchFamily="34" charset="77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77"/>
                <a:ea typeface="+mn-ea"/>
                <a:cs typeface="+mn-cs"/>
              </a:rPr>
              <a:t>Transitioning from static MLPs to Gated Recurrent Units to better capture long-range dependencies.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33284-EC0D-21C0-B581-78CE0DDB671F}"/>
              </a:ext>
            </a:extLst>
          </p:cNvPr>
          <p:cNvSpPr txBox="1"/>
          <p:nvPr/>
        </p:nvSpPr>
        <p:spPr>
          <a:xfrm>
            <a:off x="235540" y="13684876"/>
            <a:ext cx="10671048" cy="298947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tIns="137160" rtlCol="0">
            <a:no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Avenir Next LT Pro" panose="020B0504020202020204" pitchFamily="34" charset="77"/>
              </a:rPr>
              <a:t>Overview</a:t>
            </a:r>
            <a:r>
              <a:rPr lang="en-US" sz="3200" b="1" dirty="0">
                <a:solidFill>
                  <a:prstClr val="black"/>
                </a:solidFill>
                <a:latin typeface="Avenir Next LT Pro" panose="020B0504020202020204" pitchFamily="34" charset="77"/>
              </a:rPr>
              <a:t>:</a:t>
            </a:r>
            <a:r>
              <a:rPr lang="en-US" sz="3200" dirty="0">
                <a:solidFill>
                  <a:prstClr val="black"/>
                </a:solidFill>
                <a:latin typeface="Avenir Next LT Pro" panose="020B0504020202020204" pitchFamily="34" charset="77"/>
              </a:rPr>
              <a:t> A multi-source hourly time-series dataset (8,783 observations) merging meteorological and grid-load data.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Avenir Next LT Pro" panose="020B0504020202020204" pitchFamily="34" charset="77"/>
              </a:rPr>
              <a:t>Sources</a:t>
            </a:r>
            <a:r>
              <a:rPr lang="en-US" sz="3200" b="1" dirty="0">
                <a:solidFill>
                  <a:prstClr val="black"/>
                </a:solidFill>
                <a:latin typeface="Avenir Next LT Pro" panose="020B0504020202020204" pitchFamily="34" charset="77"/>
              </a:rPr>
              <a:t>:</a:t>
            </a:r>
            <a:r>
              <a:rPr lang="en-US" sz="3200" dirty="0">
                <a:solidFill>
                  <a:prstClr val="black"/>
                </a:solidFill>
                <a:latin typeface="Avenir Next LT Pro" panose="020B0504020202020204" pitchFamily="34" charset="77"/>
              </a:rPr>
              <a:t> Historical load data via PJM Interconnection API; climate data via NOAA GHCN API.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392CE1C-03A8-2E8B-AAED-F943E28AF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49542"/>
              </p:ext>
            </p:extLst>
          </p:nvPr>
        </p:nvGraphicFramePr>
        <p:xfrm>
          <a:off x="11641279" y="12590560"/>
          <a:ext cx="10195560" cy="23892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60529345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1825183631"/>
                    </a:ext>
                  </a:extLst>
                </a:gridCol>
                <a:gridCol w="3398520">
                  <a:extLst>
                    <a:ext uri="{9D8B030D-6E8A-4147-A177-3AD203B41FA5}">
                      <a16:colId xmlns:a16="http://schemas.microsoft.com/office/drawing/2014/main" val="2011691877"/>
                    </a:ext>
                  </a:extLst>
                </a:gridCol>
              </a:tblGrid>
              <a:tr h="597313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  <a:latin typeface="Avenir Next LT Pro" panose="020B0504020202020204" pitchFamily="34" charset="77"/>
                        </a:rPr>
                        <a:t>Metric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  <a:latin typeface="Avenir Next LT Pro" panose="020B0504020202020204" pitchFamily="34" charset="77"/>
                        </a:rPr>
                        <a:t>Baseline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1"/>
                          </a:solidFill>
                          <a:latin typeface="Avenir Next LT Pro" panose="020B0504020202020204" pitchFamily="34" charset="77"/>
                        </a:rPr>
                        <a:t>MLP Classifier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73299"/>
                  </a:ext>
                </a:extLst>
              </a:tr>
              <a:tr h="597313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venir Next LT Pro" panose="020B0504020202020204" pitchFamily="34" charset="77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venir Next LT Pro" panose="020B0504020202020204" pitchFamily="34" charset="77"/>
                        </a:rPr>
                        <a:t>90.00%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venir Next LT Pro" panose="020B0504020202020204" pitchFamily="34" charset="77"/>
                        </a:rPr>
                        <a:t>98.86%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493201"/>
                  </a:ext>
                </a:extLst>
              </a:tr>
              <a:tr h="597313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venir Next LT Pro" panose="020B0504020202020204" pitchFamily="34" charset="77"/>
                        </a:rPr>
                        <a:t>True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venir Next LT Pro" panose="020B0504020202020204" pitchFamily="34" charset="77"/>
                        </a:rPr>
                        <a:t>1,737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venir Next LT Pro" panose="020B0504020202020204" pitchFamily="34" charset="77"/>
                        </a:rPr>
                        <a:t>1,737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799336"/>
                  </a:ext>
                </a:extLst>
              </a:tr>
              <a:tr h="597313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venir Next LT Pro" panose="020B0504020202020204" pitchFamily="34" charset="77"/>
                        </a:rPr>
                        <a:t>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venir Next LT Pro" panose="020B0504020202020204" pitchFamily="34" charset="77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Avenir Next LT Pro" panose="020B0504020202020204" pitchFamily="34" charset="77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8918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8FE27AE-46E7-39B6-1DD1-BDEC53BFE80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31" t="4376" r="7569"/>
          <a:stretch>
            <a:fillRect/>
          </a:stretch>
        </p:blipFill>
        <p:spPr>
          <a:xfrm>
            <a:off x="12371294" y="15231175"/>
            <a:ext cx="7826188" cy="63064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B1252-8560-8695-0DA0-A7F6BEFF12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163" t="3331" r="7719"/>
          <a:stretch>
            <a:fillRect/>
          </a:stretch>
        </p:blipFill>
        <p:spPr>
          <a:xfrm>
            <a:off x="23105356" y="12355117"/>
            <a:ext cx="9237262" cy="4228829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38F117B-FBFF-1494-40E1-68B44B6EE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06711"/>
              </p:ext>
            </p:extLst>
          </p:nvPr>
        </p:nvGraphicFramePr>
        <p:xfrm>
          <a:off x="23753560" y="16583946"/>
          <a:ext cx="7904451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72555">
                  <a:extLst>
                    <a:ext uri="{9D8B030D-6E8A-4147-A177-3AD203B41FA5}">
                      <a16:colId xmlns:a16="http://schemas.microsoft.com/office/drawing/2014/main" val="2460529345"/>
                    </a:ext>
                  </a:extLst>
                </a:gridCol>
                <a:gridCol w="1776237">
                  <a:extLst>
                    <a:ext uri="{9D8B030D-6E8A-4147-A177-3AD203B41FA5}">
                      <a16:colId xmlns:a16="http://schemas.microsoft.com/office/drawing/2014/main" val="1825183631"/>
                    </a:ext>
                  </a:extLst>
                </a:gridCol>
                <a:gridCol w="3255659">
                  <a:extLst>
                    <a:ext uri="{9D8B030D-6E8A-4147-A177-3AD203B41FA5}">
                      <a16:colId xmlns:a16="http://schemas.microsoft.com/office/drawing/2014/main" val="2011691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Avenir Next LT Pro" panose="020B0504020202020204" pitchFamily="34" charset="77"/>
                        </a:rPr>
                        <a:t>Metric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Avenir Next LT Pro" panose="020B0504020202020204" pitchFamily="34" charset="77"/>
                        </a:rPr>
                        <a:t>Baseline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Avenir Next LT Pro" panose="020B0504020202020204" pitchFamily="34" charset="77"/>
                        </a:rPr>
                        <a:t>MLP Regressor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73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0.1400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0.0023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49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~500+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venir Next LT Pro" panose="020B0504020202020204" pitchFamily="34" charset="77"/>
                        </a:rPr>
                        <a:t>265.19 MW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799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45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470</TotalTime>
  <Words>398</Words>
  <Application>Microsoft Office PowerPoint</Application>
  <PresentationFormat>Custom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Avenir Next LT Pro</vt:lpstr>
      <vt:lpstr>Avenir Next LT Pro Demi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Zack While</dc:creator>
  <cp:lastModifiedBy>David Vuksanovich</cp:lastModifiedBy>
  <cp:revision>6</cp:revision>
  <dcterms:created xsi:type="dcterms:W3CDTF">2025-12-03T17:05:36Z</dcterms:created>
  <dcterms:modified xsi:type="dcterms:W3CDTF">2026-04-09T01:38:08Z</dcterms:modified>
</cp:coreProperties>
</file>